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8"/>
  </p:notesMasterIdLst>
  <p:sldIdLst>
    <p:sldId id="271" r:id="rId2"/>
    <p:sldId id="262" r:id="rId3"/>
    <p:sldId id="259" r:id="rId4"/>
    <p:sldId id="265" r:id="rId5"/>
    <p:sldId id="272" r:id="rId6"/>
    <p:sldId id="260" r:id="rId7"/>
    <p:sldId id="273" r:id="rId8"/>
    <p:sldId id="275" r:id="rId9"/>
    <p:sldId id="269" r:id="rId10"/>
    <p:sldId id="263" r:id="rId11"/>
    <p:sldId id="264" r:id="rId12"/>
    <p:sldId id="277" r:id="rId13"/>
    <p:sldId id="279" r:id="rId14"/>
    <p:sldId id="280" r:id="rId15"/>
    <p:sldId id="26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9AEC"/>
    <a:srgbClr val="F8F8FA"/>
    <a:srgbClr val="949DEA"/>
    <a:srgbClr val="7A74B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4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9C017-FC77-4266-8AF5-C05C5903D06B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44F41-85DD-4EE1-9573-C6C1C3BE6B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98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44F41-85DD-4EE1-9573-C6C1C3BE6B1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25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6947-03AF-215E-759F-F1C8B0E3937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>
            <a:extLst>
              <a:ext uri="{FF2B5EF4-FFF2-40B4-BE49-F238E27FC236}">
                <a16:creationId xmlns:a16="http://schemas.microsoft.com/office/drawing/2014/main" id="{F2AD7881-7041-46B7-78D5-9DACF5086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>
            <a:extLst>
              <a:ext uri="{FF2B5EF4-FFF2-40B4-BE49-F238E27FC236}">
                <a16:creationId xmlns:a16="http://schemas.microsoft.com/office/drawing/2014/main" id="{C63F6CD1-F9C8-6D8A-FDAB-D052334F64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>
            <a:extLst>
              <a:ext uri="{FF2B5EF4-FFF2-40B4-BE49-F238E27FC236}">
                <a16:creationId xmlns:a16="http://schemas.microsoft.com/office/drawing/2014/main" id="{6C7EB4AA-978A-C435-CAE3-7B3CEB7A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038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92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4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50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38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75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11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63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82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5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10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4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Инфо Слайд">
    <p:bg>
      <p:bgPr>
        <a:gradFill>
          <a:gsLst>
            <a:gs pos="0">
              <a:schemeClr val="bg1"/>
            </a:gs>
            <a:gs pos="38000">
              <a:srgbClr val="5DCDFF"/>
            </a:gs>
            <a:gs pos="64000">
              <a:srgbClr val="8C62FF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Объект 2">
            <a:extLst>
              <a:ext uri="{FF2B5EF4-FFF2-40B4-BE49-F238E27FC236}">
                <a16:creationId xmlns:a16="http://schemas.microsoft.com/office/drawing/2014/main" id="{0CF99737-AECE-4F14-89EE-B6B6EB94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816"/>
            <a:ext cx="10515600" cy="4974147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497A"/>
                </a:solidFill>
              </a:defRPr>
            </a:lvl1pPr>
            <a:lvl2pPr>
              <a:defRPr sz="1600">
                <a:solidFill>
                  <a:srgbClr val="00497A"/>
                </a:solidFill>
              </a:defRPr>
            </a:lvl2pPr>
            <a:lvl3pPr>
              <a:defRPr sz="1400">
                <a:solidFill>
                  <a:srgbClr val="00497A"/>
                </a:solidFill>
              </a:defRPr>
            </a:lvl3pPr>
            <a:lvl4pPr>
              <a:defRPr sz="1200">
                <a:solidFill>
                  <a:srgbClr val="00497A"/>
                </a:solidFill>
              </a:defRPr>
            </a:lvl4pPr>
            <a:lvl5pPr>
              <a:defRPr sz="1200">
                <a:solidFill>
                  <a:srgbClr val="00497A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5888C-A95E-4A1F-AA86-46AA543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BF629-A3BD-4A63-88E4-B4C92EA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217BE-D2B2-4E46-A31E-05CD31E3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345522D5-2C20-4CF3-A8DA-DDA51379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</p:spPr>
        <p:txBody>
          <a:bodyPr/>
          <a:lstStyle>
            <a:lvl1pPr>
              <a:lnSpc>
                <a:spcPct val="70000"/>
              </a:lnSpc>
              <a:defRPr>
                <a:solidFill>
                  <a:srgbClr val="00497A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DF75-5290-4ED9-B687-1CFF0508A65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A9FE4-16CB-443E-9F74-1945B786D1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84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/>
          <p:cNvSpPr>
            <a:spLocks noGrp="1"/>
          </p:cNvSpPr>
          <p:nvPr>
            <p:ph type="ctrTitle"/>
          </p:nvPr>
        </p:nvSpPr>
        <p:spPr bwMode="auto">
          <a:xfrm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Разработка мобильного приложения-библиотеки «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Liboffan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382556" name="Subtitle 2"/>
          <p:cNvSpPr>
            <a:spLocks noGrp="1"/>
          </p:cNvSpPr>
          <p:nvPr>
            <p:ph type="subTitle" idx="1"/>
          </p:nvPr>
        </p:nvSpPr>
        <p:spPr bwMode="auto">
          <a:xfrm>
            <a:off x="5471550" y="5106987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Обучающийся: </a:t>
            </a:r>
            <a:r>
              <a:rPr lang="ru-RU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Щеблыкина А.В.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 курс</a:t>
            </a:r>
            <a:endParaRPr sz="20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Научный руководитель: Тарасов В.С.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ст. преподаватель</a:t>
            </a:r>
            <a:endParaRPr sz="20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Консультант: Ушаков В.А. ассистент</a:t>
            </a:r>
            <a:endParaRPr lang="ru-RU" sz="24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8542254" name="Subtitle 2"/>
          <p:cNvSpPr>
            <a:spLocks noGrp="1"/>
          </p:cNvSpPr>
          <p:nvPr/>
        </p:nvSpPr>
        <p:spPr bwMode="auto">
          <a:xfrm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 dirty="0"/>
          </a:p>
          <a:p>
            <a:pPr>
              <a:defRPr/>
            </a:pPr>
            <a:endParaRPr sz="3600" dirty="0"/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компьютерных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наук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программирования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информационных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технологий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205F52-4753-418E-AFA9-D71F4ACDD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Линейность традиционных платформ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Фрагментация фанатского творчества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Эмоциональная привязанность к «потерянным» сюжетам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Инклюзивность через множественность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Тренд на пользовательский контент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CBAA8D-C538-4674-92C2-15C5CFB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и 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54241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205F52-4753-418E-AFA9-D71F4ACDD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платформу коллаборативного создания историй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Демократизировать творчество через ветвление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БД с </a:t>
            </a:r>
            <a:r>
              <a:rPr lang="ru-RU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поддержкой ответвлений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API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экраны на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Retrofit +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TokenManager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пользовательский контент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CBAA8D-C538-4674-92C2-15C5CFB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371720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205F52-4753-418E-AFA9-D71F4ACDD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Ветвление сюжетов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Гибридные описания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Авторство версий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Теги +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фандомы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Возрастные рейтинги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CBAA8D-C538-4674-92C2-15C5CFB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39D4AD-8BD5-447D-9947-705ABDD008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" b="5652"/>
          <a:stretch/>
        </p:blipFill>
        <p:spPr>
          <a:xfrm>
            <a:off x="6190593" y="484437"/>
            <a:ext cx="2616150" cy="517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98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4FA0C-1B65-37F2-A537-F30008D6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99F7AE1-CA5A-5A1C-94B5-0C5F7375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F0B0F0-A153-52E0-4C9A-0AE6C565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1861919"/>
            <a:ext cx="11155332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0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0C95C3D8-E0DE-40B6-934A-6C05FAE3B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 3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+ Spring Security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MariaDB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5EEAC68-5B11-43F5-8B3D-E3719745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Технологическая актуальность</a:t>
            </a:r>
          </a:p>
        </p:txBody>
      </p:sp>
      <p:pic>
        <p:nvPicPr>
          <p:cNvPr id="4" name="Рисунок 3" descr="Файл:Kotlin Icon.png — Википедия">
            <a:extLst>
              <a:ext uri="{FF2B5EF4-FFF2-40B4-BE49-F238E27FC236}">
                <a16:creationId xmlns:a16="http://schemas.microsoft.com/office/drawing/2014/main" id="{090839B7-3920-4C9F-7527-BE776456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" y="3192684"/>
            <a:ext cx="1127760" cy="1127760"/>
          </a:xfrm>
          <a:prstGeom prst="rect">
            <a:avLst/>
          </a:prstGeom>
        </p:spPr>
      </p:pic>
      <p:pic>
        <p:nvPicPr>
          <p:cNvPr id="5" name="Рисунок 4" descr="Image in JetPack Compose | Jetpack Compose Tutorial">
            <a:extLst>
              <a:ext uri="{FF2B5EF4-FFF2-40B4-BE49-F238E27FC236}">
                <a16:creationId xmlns:a16="http://schemas.microsoft.com/office/drawing/2014/main" id="{1C2A02A2-8F3E-695B-5D3B-4FA62D484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37" y="4478737"/>
            <a:ext cx="1625600" cy="1625600"/>
          </a:xfrm>
          <a:prstGeom prst="rect">
            <a:avLst/>
          </a:prstGeom>
        </p:spPr>
      </p:pic>
      <p:pic>
        <p:nvPicPr>
          <p:cNvPr id="6" name="Рисунок 5" descr="Java - Free logo icons">
            <a:extLst>
              <a:ext uri="{FF2B5EF4-FFF2-40B4-BE49-F238E27FC236}">
                <a16:creationId xmlns:a16="http://schemas.microsoft.com/office/drawing/2014/main" id="{C7760FCD-6FC0-2F12-2B28-33D475531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603" y="3275857"/>
            <a:ext cx="1443355" cy="1443355"/>
          </a:xfrm>
          <a:prstGeom prst="rect">
            <a:avLst/>
          </a:prstGeom>
        </p:spPr>
      </p:pic>
      <p:pic>
        <p:nvPicPr>
          <p:cNvPr id="7" name="Рисунок 6" descr="File:Spring Boot.svg - Wikimedia Commons">
            <a:extLst>
              <a:ext uri="{FF2B5EF4-FFF2-40B4-BE49-F238E27FC236}">
                <a16:creationId xmlns:a16="http://schemas.microsoft.com/office/drawing/2014/main" id="{DF3AC3A1-0E83-BBEE-DD79-E6BF099C2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838" y="3790880"/>
            <a:ext cx="1059956" cy="10591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EB0EB8-25AB-EB95-677E-418445D7C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6040" y="4930276"/>
            <a:ext cx="1116231" cy="1758632"/>
          </a:xfrm>
          <a:prstGeom prst="rect">
            <a:avLst/>
          </a:prstGeom>
        </p:spPr>
      </p:pic>
      <p:pic>
        <p:nvPicPr>
          <p:cNvPr id="11" name="Рисунок 10" descr="MariaDb color icon in PNG, SVG">
            <a:extLst>
              <a:ext uri="{FF2B5EF4-FFF2-40B4-BE49-F238E27FC236}">
                <a16:creationId xmlns:a16="http://schemas.microsoft.com/office/drawing/2014/main" id="{8767FF86-12CE-9BB6-60D2-FF72820E5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0674" y="3729824"/>
            <a:ext cx="2180759" cy="21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8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24BA68-EB13-22B1-C4B8-55868124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3826C29-FDB4-8FC8-A9F0-5774F2E7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D4A8E7-CC79-6B98-55BB-21DD0508B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791" y="1062842"/>
            <a:ext cx="9479886" cy="528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59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ADD93-AF7D-04FE-A5EF-F061C77E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118A22D-27F1-BCCA-9D00-78966E8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работы модуля работы с AI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139BA3-2D40-D057-D38E-09AE3E2DB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063" y="1062842"/>
            <a:ext cx="8646969" cy="52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6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E222F-A289-1A68-F471-998255DA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7EFEEC7-36E9-9CAD-D2C7-D7E8BD764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372" y="1210213"/>
            <a:ext cx="5937738" cy="497414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функционал: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99777C9-67F0-FD69-F6C9-73446124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372" y="372522"/>
            <a:ext cx="8202474" cy="69771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9AD38E-CCAB-F385-9714-4EA8B1A52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599" y="0"/>
            <a:ext cx="6629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7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205F52-4753-418E-AFA9-D71F4ACDD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816"/>
            <a:ext cx="5937738" cy="497414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Спокойные цвета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CBAA8D-C538-4674-92C2-15C5CFB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9AD06A-C848-44ED-B9DC-F90ECEF133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1" b="9931"/>
          <a:stretch/>
        </p:blipFill>
        <p:spPr>
          <a:xfrm>
            <a:off x="7280032" y="1029895"/>
            <a:ext cx="2763400" cy="4798209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9607CAA-433E-4D68-BAC0-7A92B649EC6F}"/>
              </a:ext>
            </a:extLst>
          </p:cNvPr>
          <p:cNvSpPr/>
          <p:nvPr/>
        </p:nvSpPr>
        <p:spPr>
          <a:xfrm>
            <a:off x="1223124" y="2186354"/>
            <a:ext cx="539262" cy="539262"/>
          </a:xfrm>
          <a:prstGeom prst="roundRect">
            <a:avLst/>
          </a:prstGeom>
          <a:solidFill>
            <a:srgbClr val="7A74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9DB9A5E-738D-4B27-A25F-3F82F168D77A}"/>
              </a:ext>
            </a:extLst>
          </p:cNvPr>
          <p:cNvSpPr/>
          <p:nvPr/>
        </p:nvSpPr>
        <p:spPr>
          <a:xfrm>
            <a:off x="2030708" y="2186354"/>
            <a:ext cx="539262" cy="539262"/>
          </a:xfrm>
          <a:prstGeom prst="roundRect">
            <a:avLst/>
          </a:prstGeom>
          <a:solidFill>
            <a:srgbClr val="949D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7F202A3-B9E0-4D63-B3E4-43EA52703371}"/>
              </a:ext>
            </a:extLst>
          </p:cNvPr>
          <p:cNvSpPr/>
          <p:nvPr/>
        </p:nvSpPr>
        <p:spPr>
          <a:xfrm>
            <a:off x="2838292" y="2186354"/>
            <a:ext cx="539262" cy="539262"/>
          </a:xfrm>
          <a:prstGeom prst="roundRect">
            <a:avLst/>
          </a:prstGeom>
          <a:solidFill>
            <a:srgbClr val="A69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651499A-14FE-4993-ADCB-209F8E2770AD}"/>
              </a:ext>
            </a:extLst>
          </p:cNvPr>
          <p:cNvSpPr/>
          <p:nvPr/>
        </p:nvSpPr>
        <p:spPr>
          <a:xfrm>
            <a:off x="3645876" y="2186354"/>
            <a:ext cx="539262" cy="539262"/>
          </a:xfrm>
          <a:prstGeom prst="roundRect">
            <a:avLst/>
          </a:prstGeom>
          <a:solidFill>
            <a:srgbClr val="F8F8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48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CBAA8D-C538-4674-92C2-15C5CFB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экраны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2FDEAA-A002-4D9B-B20E-0B0EE97C3F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8" b="6251"/>
          <a:stretch/>
        </p:blipFill>
        <p:spPr>
          <a:xfrm>
            <a:off x="1128448" y="1264466"/>
            <a:ext cx="2474584" cy="493775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544E041-430F-4DFD-A3DF-128846922B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" b="6444"/>
          <a:stretch/>
        </p:blipFill>
        <p:spPr>
          <a:xfrm>
            <a:off x="8353244" y="1264466"/>
            <a:ext cx="2547932" cy="4968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CD870D-3BB7-2C3D-27CF-24F2E9E9343A}"/>
              </a:ext>
            </a:extLst>
          </p:cNvPr>
          <p:cNvSpPr txBox="1"/>
          <p:nvPr/>
        </p:nvSpPr>
        <p:spPr>
          <a:xfrm>
            <a:off x="4618614" y="1807944"/>
            <a:ext cx="1477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A1761-56CF-1666-26CF-4BDF0E339318}"/>
              </a:ext>
            </a:extLst>
          </p:cNvPr>
          <p:cNvSpPr txBox="1"/>
          <p:nvPr/>
        </p:nvSpPr>
        <p:spPr>
          <a:xfrm>
            <a:off x="6096000" y="3920609"/>
            <a:ext cx="107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</a:t>
            </a: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9EDE1503-3499-ABFF-E810-B68735DD6E5B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6941850" y="3981896"/>
            <a:ext cx="691285" cy="1307373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670DDA29-2EA7-634B-E39B-A974D6C6E032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357979" y="1869232"/>
            <a:ext cx="691285" cy="130737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826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CCD3C-E2B7-2ADA-2A17-716068E6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FBE8F2D-F95A-5991-2291-57230B76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экраны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23EC-19DF-6DD2-03AF-7189CBCAF550}"/>
              </a:ext>
            </a:extLst>
          </p:cNvPr>
          <p:cNvSpPr txBox="1"/>
          <p:nvPr/>
        </p:nvSpPr>
        <p:spPr>
          <a:xfrm>
            <a:off x="4618614" y="1807944"/>
            <a:ext cx="1477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A5375-6426-853E-B01F-5C8BFD54CFAC}"/>
              </a:ext>
            </a:extLst>
          </p:cNvPr>
          <p:cNvSpPr txBox="1"/>
          <p:nvPr/>
        </p:nvSpPr>
        <p:spPr>
          <a:xfrm>
            <a:off x="6096000" y="3920609"/>
            <a:ext cx="107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89D1092C-EF29-A662-DBD7-6CC0E917E4C0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6941850" y="3981896"/>
            <a:ext cx="691285" cy="1307373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488D60C1-E166-7E1C-6664-9A6B4D136C5B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496480" y="2007732"/>
            <a:ext cx="414285" cy="1307371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F3C2350-DAC2-5887-2C8D-805818F6DB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6" b="7000"/>
          <a:stretch/>
        </p:blipFill>
        <p:spPr>
          <a:xfrm>
            <a:off x="1105629" y="1333500"/>
            <a:ext cx="2531281" cy="489943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C58376-CD3A-3026-319F-2D2BDD1043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7" b="6444"/>
          <a:stretch/>
        </p:blipFill>
        <p:spPr>
          <a:xfrm>
            <a:off x="8354203" y="1264466"/>
            <a:ext cx="2551082" cy="49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81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2C5F4-195A-C93D-5143-1C858427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4A1E52B-7DEE-ADE9-5695-6884E19F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Экран создания истории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FE3CB-0DC1-FFF2-5CBE-BF6A6EF5EAB8}"/>
              </a:ext>
            </a:extLst>
          </p:cNvPr>
          <p:cNvSpPr txBox="1"/>
          <p:nvPr/>
        </p:nvSpPr>
        <p:spPr>
          <a:xfrm>
            <a:off x="4618614" y="1807944"/>
            <a:ext cx="1477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BE1B2-6C5D-5C18-4983-B41A70A65C2C}"/>
              </a:ext>
            </a:extLst>
          </p:cNvPr>
          <p:cNvSpPr txBox="1"/>
          <p:nvPr/>
        </p:nvSpPr>
        <p:spPr>
          <a:xfrm>
            <a:off x="5781675" y="3920609"/>
            <a:ext cx="1847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к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ассистенту </a:t>
            </a: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BD317E7C-D981-F46E-9E12-FD4B14128E45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7116248" y="4156292"/>
            <a:ext cx="414281" cy="123557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CCD39C94-CE0C-9046-BB2E-F083F0DEF7FD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496481" y="2007735"/>
            <a:ext cx="414286" cy="130736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6589CC-6D01-0DAE-3D51-6F29F7CA3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79" y="1273790"/>
            <a:ext cx="2518198" cy="496846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25DE02-3D52-B0D9-9D7F-8BC604129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136" y="1273789"/>
            <a:ext cx="2518198" cy="496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61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7B1B1-F8B6-B939-54E8-BF39DB37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004BDF-AD88-9C80-3581-04DAA09E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03" b="5806"/>
          <a:stretch>
            <a:fillRect/>
          </a:stretch>
        </p:blipFill>
        <p:spPr>
          <a:xfrm>
            <a:off x="1075956" y="1273790"/>
            <a:ext cx="2565021" cy="5045724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9DA5565-DC10-3719-94F4-64D62E1D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Экран создания истории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AB405-0289-E6F9-7236-39EFB734A88B}"/>
              </a:ext>
            </a:extLst>
          </p:cNvPr>
          <p:cNvSpPr txBox="1"/>
          <p:nvPr/>
        </p:nvSpPr>
        <p:spPr>
          <a:xfrm>
            <a:off x="4618614" y="1807944"/>
            <a:ext cx="1477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книге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1E2FD-F873-3A70-5D8B-9BB723A462F1}"/>
              </a:ext>
            </a:extLst>
          </p:cNvPr>
          <p:cNvSpPr txBox="1"/>
          <p:nvPr/>
        </p:nvSpPr>
        <p:spPr>
          <a:xfrm>
            <a:off x="5781675" y="3920609"/>
            <a:ext cx="1847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Экран с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AI-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ассистентом </a:t>
            </a: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9700F53F-C38F-C4DD-1F60-CEDEAEC51E0E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7116247" y="4156293"/>
            <a:ext cx="414282" cy="123557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90E6C90F-9D43-9D6F-D282-0783B1980FA4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496483" y="2007735"/>
            <a:ext cx="414285" cy="130736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2AADD3-90E0-5710-7678-A700A8F1D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734" y="1273790"/>
            <a:ext cx="2518198" cy="49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67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8205F52-4753-418E-AFA9-D71F4ACDD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выполнено: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Анализ предметной области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Архитектура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MVVM + Spring Boot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БД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MariaDB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версионированием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 (10+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8 экранов на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AI-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помощник (локальный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 ветвления сюжетов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Тестирование полного цикла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CBAA8D-C538-4674-92C2-15C5CFBE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298601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EE6E107-6B51-CB6D-16CD-9BA66AB5647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>
            <a:extLst>
              <a:ext uri="{FF2B5EF4-FFF2-40B4-BE49-F238E27FC236}">
                <a16:creationId xmlns:a16="http://schemas.microsoft.com/office/drawing/2014/main" id="{658FD355-2338-A44A-3B7F-BE139EB88446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Разработка мобильного приложения-библиотеки «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Liboffan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382556" name="Subtitle 2">
            <a:extLst>
              <a:ext uri="{FF2B5EF4-FFF2-40B4-BE49-F238E27FC236}">
                <a16:creationId xmlns:a16="http://schemas.microsoft.com/office/drawing/2014/main" id="{0F111385-880C-060B-E8BC-B000C8F0FE8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5471550" y="5106987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Обучающийся: </a:t>
            </a:r>
            <a:r>
              <a:rPr lang="ru-RU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Щеблыкина А.В.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 курс</a:t>
            </a:r>
            <a:endParaRPr sz="20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Научный руководитель: Тарасов В.С.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ст. преподаватель</a:t>
            </a:r>
            <a:endParaRPr sz="20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Консультант: Ушаков В.А. ассистент</a:t>
            </a:r>
            <a:endParaRPr lang="ru-RU" sz="24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8542254" name="Subtitle 2">
            <a:extLst>
              <a:ext uri="{FF2B5EF4-FFF2-40B4-BE49-F238E27FC236}">
                <a16:creationId xmlns:a16="http://schemas.microsoft.com/office/drawing/2014/main" id="{EEF1BD48-094C-5921-2A77-DB3C3289B5F1}"/>
              </a:ext>
            </a:extLst>
          </p:cNvPr>
          <p:cNvSpPr>
            <a:spLocks noGrp="1"/>
          </p:cNvSpPr>
          <p:nvPr/>
        </p:nvSpPr>
        <p:spPr bwMode="auto">
          <a:xfrm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 dirty="0"/>
          </a:p>
          <a:p>
            <a:pPr>
              <a:defRPr/>
            </a:pPr>
            <a:endParaRPr sz="3600" dirty="0"/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компьютерных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наук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программирования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информационных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технологий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91098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786</TotalTime>
  <Words>324</Words>
  <Application>Microsoft Office PowerPoint</Application>
  <PresentationFormat>Широкоэкранный</PresentationFormat>
  <Paragraphs>108</Paragraphs>
  <Slides>16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Разработка мобильного приложения-библиотеки «Liboffan»</vt:lpstr>
      <vt:lpstr>Проблемы и актуальность</vt:lpstr>
      <vt:lpstr>Цели и задачи</vt:lpstr>
      <vt:lpstr>Идея</vt:lpstr>
      <vt:lpstr>Обзор аналогов</vt:lpstr>
      <vt:lpstr>Технологическая актуальность</vt:lpstr>
      <vt:lpstr>База данных</vt:lpstr>
      <vt:lpstr>Схема работы модуля работы с AI</vt:lpstr>
      <vt:lpstr>Use-case диаграмма</vt:lpstr>
      <vt:lpstr>Дизайн приложения</vt:lpstr>
      <vt:lpstr>Основные экраны</vt:lpstr>
      <vt:lpstr>Основные экраны</vt:lpstr>
      <vt:lpstr>Экран создания истории</vt:lpstr>
      <vt:lpstr>Экран создания истории</vt:lpstr>
      <vt:lpstr>Заключение</vt:lpstr>
      <vt:lpstr>Разработка мобильного приложения-библиотеки «Liboffan»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Liboffan</dc:title>
  <dc:creator>Арина Щ</dc:creator>
  <cp:lastModifiedBy>Арина Щ</cp:lastModifiedBy>
  <cp:revision>45</cp:revision>
  <dcterms:created xsi:type="dcterms:W3CDTF">2026-03-07T12:27:50Z</dcterms:created>
  <dcterms:modified xsi:type="dcterms:W3CDTF">2026-06-10T07:24:18Z</dcterms:modified>
</cp:coreProperties>
</file>